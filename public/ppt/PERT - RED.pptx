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chivo Black" charset="1" panose="020B0A03020202020B04"/>
      <p:regular r:id="rId18"/>
    </p:embeddedFont>
    <p:embeddedFont>
      <p:font typeface="Aptos" charset="1" panose="020B0004020202020204"/>
      <p:regular r:id="rId19"/>
    </p:embeddedFont>
    <p:embeddedFont>
      <p:font typeface="Aptos Bold" charset="1" panose="020B00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9715500" cy="10287000"/>
            <a:chOff x="0" y="0"/>
            <a:chExt cx="1295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F3D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9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96289" y="1260809"/>
            <a:ext cx="1333500" cy="114300"/>
            <a:chOff x="0" y="0"/>
            <a:chExt cx="177800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000" cy="152400"/>
            </a:xfrm>
            <a:custGeom>
              <a:avLst/>
              <a:gdLst/>
              <a:ahLst/>
              <a:cxnLst/>
              <a:rect r="r" b="b" t="t" l="l"/>
              <a:pathLst>
                <a:path h="1524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6B5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78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52500" y="1905000"/>
            <a:ext cx="8191500" cy="385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3"/>
              </a:lnSpc>
            </a:pPr>
            <a:r>
              <a:rPr lang="en-US" sz="59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PERT-RED:</a:t>
            </a:r>
          </a:p>
          <a:p>
            <a:pPr algn="l">
              <a:lnSpc>
                <a:spcPts val="6043"/>
              </a:lnSpc>
            </a:pPr>
            <a:r>
              <a:rPr lang="en-US" sz="59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Evaluación de Recursos</a:t>
            </a:r>
          </a:p>
          <a:p>
            <a:pPr algn="l">
              <a:lnSpc>
                <a:spcPts val="6043"/>
              </a:lnSpc>
            </a:pPr>
            <a:r>
              <a:rPr lang="en-US" sz="59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Educativos Digitales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105650"/>
            <a:ext cx="7239000" cy="211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Castellanos De Salvador Angela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Castellanos De Salvador Daniel</a:t>
            </a:r>
          </a:p>
          <a:p>
            <a:pPr algn="l">
              <a:lnSpc>
                <a:spcPts val="2835"/>
              </a:lnSpc>
            </a:p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Universidad de Santander </a:t>
            </a:r>
          </a:p>
          <a:p>
            <a:pPr algn="l">
              <a:lnSpc>
                <a:spcPts val="2835"/>
              </a:lnSpc>
            </a:p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00100"/>
            <a:ext cx="8572500" cy="116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Evaluar para adaptar,</a:t>
            </a:r>
          </a:p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no solo para elegir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2819400"/>
            <a:ext cx="579521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Los recursos educativos digitales favorecen autonomía y dinamismo cuando responden al contenido, al uso y al acceso reales. PERT-RED integra aportes de LORI, COdA y Galvis con una mirada explícita al contexto rural.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97000" y="2143125"/>
            <a:ext cx="952500" cy="1571625"/>
          </a:xfrm>
          <a:prstGeom prst="line">
            <a:avLst/>
          </a:prstGeom>
          <a:ln cap="rnd" w="57150">
            <a:solidFill>
              <a:srgbClr val="20C7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14097000" y="4762500"/>
            <a:ext cx="952500" cy="1571625"/>
          </a:xfrm>
          <a:prstGeom prst="line">
            <a:avLst/>
          </a:prstGeom>
          <a:ln cap="rnd" w="57150">
            <a:solidFill>
              <a:srgbClr val="20C7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9715500" y="4762500"/>
            <a:ext cx="952500" cy="1571625"/>
          </a:xfrm>
          <a:prstGeom prst="line">
            <a:avLst/>
          </a:prstGeom>
          <a:ln cap="rnd" w="57150">
            <a:solidFill>
              <a:srgbClr val="20C7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715500" y="2143125"/>
            <a:ext cx="952500" cy="1571625"/>
          </a:xfrm>
          <a:prstGeom prst="line">
            <a:avLst/>
          </a:prstGeom>
          <a:ln cap="rnd" w="57150">
            <a:solidFill>
              <a:srgbClr val="20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668000" y="1619250"/>
            <a:ext cx="3429000" cy="1047750"/>
            <a:chOff x="0" y="0"/>
            <a:chExt cx="4572000" cy="139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333500"/>
                  </a:lnTo>
                  <a:cubicBezTo>
                    <a:pt x="4572000" y="1368570"/>
                    <a:pt x="4543570" y="1397000"/>
                    <a:pt x="4508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4572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3"/>
                </a:lnSpc>
              </a:pPr>
              <a:r>
                <a:rPr lang="en-US" sz="27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 · OBSERVAR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16000" y="3714750"/>
            <a:ext cx="3429000" cy="1047750"/>
            <a:chOff x="0" y="0"/>
            <a:chExt cx="45720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333500"/>
                  </a:lnTo>
                  <a:cubicBezTo>
                    <a:pt x="4572000" y="1368570"/>
                    <a:pt x="4543570" y="1397000"/>
                    <a:pt x="4508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6B5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572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3"/>
                </a:lnSpc>
              </a:pPr>
              <a:r>
                <a:rPr lang="en-US" sz="27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 · VALORAR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68000" y="5810250"/>
            <a:ext cx="3429000" cy="1047750"/>
            <a:chOff x="0" y="0"/>
            <a:chExt cx="4572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7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333500"/>
                  </a:lnTo>
                  <a:cubicBezTo>
                    <a:pt x="4572000" y="1368570"/>
                    <a:pt x="4543570" y="1397000"/>
                    <a:pt x="4508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42B883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4572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3"/>
                </a:lnSpc>
              </a:pPr>
              <a:r>
                <a:rPr lang="en-US" sz="27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 · ADAPTAR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20000" y="3714750"/>
            <a:ext cx="3429000" cy="1047750"/>
            <a:chOff x="0" y="0"/>
            <a:chExt cx="45720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333500"/>
                  </a:lnTo>
                  <a:cubicBezTo>
                    <a:pt x="4572000" y="1368570"/>
                    <a:pt x="4543570" y="1397000"/>
                    <a:pt x="4508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4572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3"/>
                </a:lnSpc>
              </a:pPr>
              <a:r>
                <a:rPr lang="en-US" sz="27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· REAPLICAR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858250" y="7252336"/>
            <a:ext cx="6572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12243A"/>
                </a:solidFill>
                <a:latin typeface="Aptos Bold"/>
                <a:ea typeface="Aptos Bold"/>
                <a:cs typeface="Aptos Bold"/>
                <a:sym typeface="Aptos Bold"/>
              </a:rPr>
              <a:t>Ciclo de evaluación continua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" r="0" b="-34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239250" y="4762500"/>
            <a:ext cx="114300" cy="4191000"/>
            <a:chOff x="0" y="0"/>
            <a:chExt cx="152400" cy="5588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5588000"/>
                  </a:lnTo>
                  <a:lnTo>
                    <a:pt x="0" y="5588000"/>
                  </a:lnTo>
                  <a:close/>
                </a:path>
              </a:pathLst>
            </a:custGeom>
            <a:solidFill>
              <a:srgbClr val="FF6B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24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239250" y="904875"/>
            <a:ext cx="8096250" cy="111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4125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El recurso “ideal”</a:t>
            </a:r>
          </a:p>
          <a:p>
            <a:pPr algn="l">
              <a:lnSpc>
                <a:spcPts val="4331"/>
              </a:lnSpc>
            </a:pPr>
            <a:r>
              <a:rPr lang="en-US" sz="4125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no existe fuera del contexto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39250" y="2676525"/>
            <a:ext cx="7239000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La diversidad de plataformas amplía las opciones, pero también hace más compleja una elección pertinente.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10750" y="5010150"/>
            <a:ext cx="2095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 b="true">
                <a:solidFill>
                  <a:srgbClr val="607087"/>
                </a:solidFill>
                <a:latin typeface="Aptos Bold"/>
                <a:ea typeface="Aptos Bold"/>
                <a:cs typeface="Aptos Bold"/>
                <a:sym typeface="Aptos Bold"/>
              </a:rPr>
              <a:t>NIVEL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0750" y="5391150"/>
            <a:ext cx="619125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99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Diferencias en conocimientos previos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6400800"/>
            <a:ext cx="2095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 b="true">
                <a:solidFill>
                  <a:srgbClr val="607087"/>
                </a:solidFill>
                <a:latin typeface="Aptos Bold"/>
                <a:ea typeface="Aptos Bold"/>
                <a:cs typeface="Aptos Bold"/>
                <a:sym typeface="Aptos Bold"/>
              </a:rPr>
              <a:t>ACCESO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0750" y="6781800"/>
            <a:ext cx="619125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99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Internet irregular y dispositivos compartidos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0750" y="8248650"/>
            <a:ext cx="2095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 b="true">
                <a:solidFill>
                  <a:srgbClr val="607087"/>
                </a:solidFill>
                <a:latin typeface="Aptos Bold"/>
                <a:ea typeface="Aptos Bold"/>
                <a:cs typeface="Aptos Bold"/>
                <a:sym typeface="Aptos Bold"/>
              </a:rPr>
              <a:t>CONTEXTO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10750" y="8629650"/>
            <a:ext cx="619125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99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Lenguaje, cultura y propósito local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71525"/>
            <a:ext cx="11430000" cy="59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Un propósito, cuatro movimientos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2028825"/>
            <a:ext cx="163830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Implementar PERT-RED para evaluar la calidad de recursos digitales desde la pedagogía, la tecnología y la comunicación.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4381500"/>
            <a:ext cx="3714750" cy="3157287"/>
            <a:chOff x="0" y="0"/>
            <a:chExt cx="4953000" cy="420971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953000" cy="4209716"/>
              <a:chOff x="0" y="0"/>
              <a:chExt cx="4953000" cy="420971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953000" cy="4209716"/>
              </a:xfrm>
              <a:custGeom>
                <a:avLst/>
                <a:gdLst/>
                <a:ahLst/>
                <a:cxnLst/>
                <a:rect r="r" b="b" t="t" l="l"/>
                <a:pathLst>
                  <a:path h="4209716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209716"/>
                    </a:lnTo>
                    <a:lnTo>
                      <a:pt x="0" y="4209716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76200"/>
                <a:ext cx="4953000" cy="4285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43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44500" y="698500"/>
              <a:ext cx="4064000" cy="284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9"/>
                </a:lnSpc>
              </a:pPr>
              <a:r>
                <a:rPr lang="en-US" sz="354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  <a:p>
              <a:pPr algn="l">
                <a:lnSpc>
                  <a:spcPts val="4259"/>
                </a:lnSpc>
              </a:pPr>
              <a:r>
                <a:rPr lang="en-US" sz="354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Aplicar a dos recursos de inglés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4667250" y="5953125"/>
            <a:ext cx="523875" cy="0"/>
          </a:xfrm>
          <a:prstGeom prst="line">
            <a:avLst/>
          </a:prstGeom>
          <a:ln cap="flat" w="47625">
            <a:solidFill>
              <a:srgbClr val="1224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191125" y="4381500"/>
            <a:ext cx="3714750" cy="3183857"/>
            <a:chOff x="0" y="0"/>
            <a:chExt cx="4953000" cy="424514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953000" cy="4245142"/>
              <a:chOff x="0" y="0"/>
              <a:chExt cx="4953000" cy="424514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953000" cy="4245142"/>
              </a:xfrm>
              <a:custGeom>
                <a:avLst/>
                <a:gdLst/>
                <a:ahLst/>
                <a:cxnLst/>
                <a:rect r="r" b="b" t="t" l="l"/>
                <a:pathLst>
                  <a:path h="4245142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245142"/>
                    </a:lnTo>
                    <a:lnTo>
                      <a:pt x="0" y="4245142"/>
                    </a:lnTo>
                    <a:close/>
                  </a:path>
                </a:pathLst>
              </a:custGeom>
              <a:solidFill>
                <a:srgbClr val="20C7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4953000" cy="42832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44500" y="708025"/>
              <a:ext cx="4064000" cy="322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69"/>
                </a:lnSpc>
              </a:pPr>
              <a:r>
                <a:rPr lang="en-US" sz="32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  <a:p>
              <a:pPr algn="l">
                <a:lnSpc>
                  <a:spcPts val="3869"/>
                </a:lnSpc>
              </a:pPr>
              <a:r>
                <a:rPr lang="en-US" sz="32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Analizar ventajas frente a otros instrumentos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905875" y="5953125"/>
            <a:ext cx="523875" cy="0"/>
          </a:xfrm>
          <a:prstGeom prst="line">
            <a:avLst/>
          </a:prstGeom>
          <a:ln cap="flat" w="47625">
            <a:solidFill>
              <a:srgbClr val="1224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429750" y="4381500"/>
            <a:ext cx="3714750" cy="3173329"/>
            <a:chOff x="0" y="0"/>
            <a:chExt cx="4953000" cy="423110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953000" cy="4231105"/>
              <a:chOff x="0" y="0"/>
              <a:chExt cx="4953000" cy="423110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953000" cy="4231105"/>
              </a:xfrm>
              <a:custGeom>
                <a:avLst/>
                <a:gdLst/>
                <a:ahLst/>
                <a:cxnLst/>
                <a:rect r="r" b="b" t="t" l="l"/>
                <a:pathLst>
                  <a:path h="4231105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231105"/>
                    </a:lnTo>
                    <a:lnTo>
                      <a:pt x="0" y="4231105"/>
                    </a:lnTo>
                    <a:close/>
                  </a:path>
                </a:pathLst>
              </a:custGeom>
              <a:solidFill>
                <a:srgbClr val="FF6B5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953000" cy="42692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44500" y="698500"/>
              <a:ext cx="4064000" cy="284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9"/>
                </a:lnSpc>
              </a:pPr>
              <a:r>
                <a:rPr lang="en-US" sz="35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  <a:p>
              <a:pPr algn="l">
                <a:lnSpc>
                  <a:spcPts val="4229"/>
                </a:lnSpc>
              </a:pPr>
              <a:r>
                <a:rPr lang="en-US" sz="35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Identificar ajustes para fortalecerlo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3144500" y="5953125"/>
            <a:ext cx="523875" cy="0"/>
          </a:xfrm>
          <a:prstGeom prst="line">
            <a:avLst/>
          </a:prstGeom>
          <a:ln cap="flat" w="47625">
            <a:solidFill>
              <a:srgbClr val="1224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3668375" y="4381500"/>
            <a:ext cx="3286508" cy="3169671"/>
            <a:chOff x="0" y="0"/>
            <a:chExt cx="4382011" cy="422622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382011" cy="4226227"/>
              <a:chOff x="0" y="0"/>
              <a:chExt cx="4953000" cy="477691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953000" cy="4776918"/>
              </a:xfrm>
              <a:custGeom>
                <a:avLst/>
                <a:gdLst/>
                <a:ahLst/>
                <a:cxnLst/>
                <a:rect r="r" b="b" t="t" l="l"/>
                <a:pathLst>
                  <a:path h="4776918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776918"/>
                    </a:lnTo>
                    <a:lnTo>
                      <a:pt x="0" y="4776918"/>
                    </a:lnTo>
                    <a:close/>
                  </a:path>
                </a:pathLst>
              </a:custGeom>
              <a:solidFill>
                <a:srgbClr val="42B88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4953000" cy="4824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93257" y="617976"/>
              <a:ext cx="3595496" cy="284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6"/>
                </a:lnSpc>
              </a:pPr>
              <a:r>
                <a:rPr lang="en-US" sz="3547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  <a:p>
              <a:pPr algn="l">
                <a:lnSpc>
                  <a:spcPts val="4256"/>
                </a:lnSpc>
              </a:pPr>
              <a:r>
                <a:rPr lang="en-US" sz="3547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Proponer adaptación y validación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1430000" cy="59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Tres lentes construyen PERT-RED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771650"/>
            <a:ext cx="138112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Un RED es contenido, interacción y mediación: su valor depende de cómo conecta propósito, experiencia y contexto.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33500" y="3667125"/>
            <a:ext cx="4476750" cy="4229737"/>
            <a:chOff x="0" y="0"/>
            <a:chExt cx="5969000" cy="563964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969000" cy="5639649"/>
              <a:chOff x="0" y="0"/>
              <a:chExt cx="5969000" cy="563964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969000" cy="5639649"/>
              </a:xfrm>
              <a:custGeom>
                <a:avLst/>
                <a:gdLst/>
                <a:ahLst/>
                <a:cxnLst/>
                <a:rect r="r" b="b" t="t" l="l"/>
                <a:pathLst>
                  <a:path h="5639649" w="5969000">
                    <a:moveTo>
                      <a:pt x="2984500" y="0"/>
                    </a:moveTo>
                    <a:cubicBezTo>
                      <a:pt x="4632794" y="0"/>
                      <a:pt x="5969000" y="1262478"/>
                      <a:pt x="5969000" y="2819824"/>
                    </a:cubicBezTo>
                    <a:cubicBezTo>
                      <a:pt x="5969000" y="4377170"/>
                      <a:pt x="4632794" y="5639649"/>
                      <a:pt x="2984500" y="5639649"/>
                    </a:cubicBezTo>
                    <a:cubicBezTo>
                      <a:pt x="1336206" y="5639649"/>
                      <a:pt x="0" y="4377170"/>
                      <a:pt x="0" y="2819824"/>
                    </a:cubicBezTo>
                    <a:cubicBezTo>
                      <a:pt x="0" y="1262478"/>
                      <a:pt x="1336206" y="0"/>
                      <a:pt x="2984500" y="0"/>
                    </a:cubicBez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5969000" cy="56967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5969000" cy="1127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69"/>
                </a:lnSpc>
              </a:pPr>
              <a:r>
                <a:rPr lang="en-US" sz="504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LORI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616624"/>
              <a:ext cx="5969000" cy="1519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4"/>
                </a:lnSpc>
              </a:pPr>
              <a:r>
                <a:rPr lang="en-US" sz="3324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Calidad · alineación · usabilidad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53250" y="3667125"/>
            <a:ext cx="4476750" cy="4281807"/>
            <a:chOff x="0" y="0"/>
            <a:chExt cx="5969000" cy="570907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969000" cy="5709076"/>
              <a:chOff x="0" y="0"/>
              <a:chExt cx="5969000" cy="570907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969000" cy="5709076"/>
              </a:xfrm>
              <a:custGeom>
                <a:avLst/>
                <a:gdLst/>
                <a:ahLst/>
                <a:cxnLst/>
                <a:rect r="r" b="b" t="t" l="l"/>
                <a:pathLst>
                  <a:path h="5709076" w="5969000">
                    <a:moveTo>
                      <a:pt x="2984500" y="0"/>
                    </a:moveTo>
                    <a:cubicBezTo>
                      <a:pt x="4632794" y="0"/>
                      <a:pt x="5969000" y="1278020"/>
                      <a:pt x="5969000" y="2854538"/>
                    </a:cubicBezTo>
                    <a:cubicBezTo>
                      <a:pt x="5969000" y="4431056"/>
                      <a:pt x="4632794" y="5709076"/>
                      <a:pt x="2984500" y="5709076"/>
                    </a:cubicBezTo>
                    <a:cubicBezTo>
                      <a:pt x="1336206" y="5709076"/>
                      <a:pt x="0" y="4431056"/>
                      <a:pt x="0" y="2854538"/>
                    </a:cubicBezTo>
                    <a:cubicBezTo>
                      <a:pt x="0" y="1278020"/>
                      <a:pt x="1336206" y="0"/>
                      <a:pt x="2984500" y="0"/>
                    </a:cubicBezTo>
                    <a:close/>
                  </a:path>
                </a:pathLst>
              </a:custGeom>
              <a:solidFill>
                <a:srgbClr val="FF6B5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5969000" cy="57471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165225"/>
              <a:ext cx="5969000" cy="1127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69"/>
                </a:lnSpc>
              </a:pPr>
              <a:r>
                <a:rPr lang="en-US" sz="504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COdA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607099"/>
              <a:ext cx="5969000" cy="15982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34"/>
                </a:lnSpc>
              </a:pPr>
              <a:r>
                <a:rPr lang="en-US" sz="3524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Criterios didácticos · tecnología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73000" y="3667125"/>
            <a:ext cx="4476750" cy="4281807"/>
            <a:chOff x="0" y="0"/>
            <a:chExt cx="5969000" cy="570907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969000" cy="5709076"/>
              <a:chOff x="0" y="0"/>
              <a:chExt cx="5969000" cy="570907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969000" cy="5709076"/>
              </a:xfrm>
              <a:custGeom>
                <a:avLst/>
                <a:gdLst/>
                <a:ahLst/>
                <a:cxnLst/>
                <a:rect r="r" b="b" t="t" l="l"/>
                <a:pathLst>
                  <a:path h="5709076" w="5969000">
                    <a:moveTo>
                      <a:pt x="2984500" y="0"/>
                    </a:moveTo>
                    <a:cubicBezTo>
                      <a:pt x="4632794" y="0"/>
                      <a:pt x="5969000" y="1278020"/>
                      <a:pt x="5969000" y="2854538"/>
                    </a:cubicBezTo>
                    <a:cubicBezTo>
                      <a:pt x="5969000" y="4431056"/>
                      <a:pt x="4632794" y="5709076"/>
                      <a:pt x="2984500" y="5709076"/>
                    </a:cubicBezTo>
                    <a:cubicBezTo>
                      <a:pt x="1336206" y="5709076"/>
                      <a:pt x="0" y="4431056"/>
                      <a:pt x="0" y="2854538"/>
                    </a:cubicBezTo>
                    <a:cubicBezTo>
                      <a:pt x="0" y="1278020"/>
                      <a:pt x="1336206" y="0"/>
                      <a:pt x="2984500" y="0"/>
                    </a:cubicBezTo>
                    <a:close/>
                  </a:path>
                </a:pathLst>
              </a:custGeom>
              <a:solidFill>
                <a:srgbClr val="42B88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5969000" cy="57567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1165225"/>
              <a:ext cx="5969000" cy="1127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69"/>
                </a:lnSpc>
              </a:pPr>
              <a:r>
                <a:rPr lang="en-US" sz="504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GALVIS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2607099"/>
              <a:ext cx="5969000" cy="15982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34"/>
                </a:lnSpc>
              </a:pPr>
              <a:r>
                <a:rPr lang="en-US" sz="3524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Material · propósito · contexto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76275"/>
            <a:ext cx="13335000" cy="59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Ocho criterios. Una lectura integral.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286000"/>
            <a:ext cx="3714750" cy="1952625"/>
            <a:chOff x="0" y="0"/>
            <a:chExt cx="4953000" cy="2603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953000" cy="2603500"/>
              <a:chOff x="0" y="0"/>
              <a:chExt cx="4953000" cy="2603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953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FE9E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953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206500" cy="2603500"/>
              <a:chOff x="0" y="0"/>
              <a:chExt cx="1206500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065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206500">
                    <a:moveTo>
                      <a:pt x="0" y="0"/>
                    </a:moveTo>
                    <a:lnTo>
                      <a:pt x="1206500" y="0"/>
                    </a:lnTo>
                    <a:lnTo>
                      <a:pt x="12065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2065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17500" y="241300"/>
              <a:ext cx="1016000" cy="706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60500" y="406400"/>
              <a:ext cx="34925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Pertinencia pedagógica y curricular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43500" y="2286000"/>
            <a:ext cx="3714750" cy="1952625"/>
            <a:chOff x="0" y="0"/>
            <a:chExt cx="4953000" cy="260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953000" cy="2603500"/>
              <a:chOff x="0" y="0"/>
              <a:chExt cx="4953000" cy="260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953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FE9E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953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206500" cy="2603500"/>
              <a:chOff x="0" y="0"/>
              <a:chExt cx="1206500" cy="2603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065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206500">
                    <a:moveTo>
                      <a:pt x="0" y="0"/>
                    </a:moveTo>
                    <a:lnTo>
                      <a:pt x="1206500" y="0"/>
                    </a:lnTo>
                    <a:lnTo>
                      <a:pt x="12065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20C7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065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17500" y="241300"/>
              <a:ext cx="1016000" cy="706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460500" y="406400"/>
              <a:ext cx="34925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Calidad y claridad de contenidos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34500" y="2286000"/>
            <a:ext cx="3714750" cy="1952625"/>
            <a:chOff x="0" y="0"/>
            <a:chExt cx="4953000" cy="2603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953000" cy="2603500"/>
              <a:chOff x="0" y="0"/>
              <a:chExt cx="4953000" cy="2603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53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FE9E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953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1206500" cy="2603500"/>
              <a:chOff x="0" y="0"/>
              <a:chExt cx="1206500" cy="2603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065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206500">
                    <a:moveTo>
                      <a:pt x="0" y="0"/>
                    </a:moveTo>
                    <a:lnTo>
                      <a:pt x="1206500" y="0"/>
                    </a:lnTo>
                    <a:lnTo>
                      <a:pt x="12065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6B5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065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17500" y="241300"/>
              <a:ext cx="1016000" cy="706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03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460500" y="406400"/>
              <a:ext cx="34925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Usabilidad e interactividad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525500" y="2286000"/>
            <a:ext cx="3714750" cy="1952625"/>
            <a:chOff x="0" y="0"/>
            <a:chExt cx="4953000" cy="26035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953000" cy="2603500"/>
              <a:chOff x="0" y="0"/>
              <a:chExt cx="4953000" cy="2603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953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FE9EF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4953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206500" cy="2603500"/>
              <a:chOff x="0" y="0"/>
              <a:chExt cx="1206500" cy="26035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065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206500">
                    <a:moveTo>
                      <a:pt x="0" y="0"/>
                    </a:moveTo>
                    <a:lnTo>
                      <a:pt x="1206500" y="0"/>
                    </a:lnTo>
                    <a:lnTo>
                      <a:pt x="12065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42B88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2065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17500" y="241300"/>
              <a:ext cx="1016000" cy="706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04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460500" y="406400"/>
              <a:ext cx="34925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Accesibilidad e inclusión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2500" y="5000625"/>
            <a:ext cx="3714750" cy="1952625"/>
            <a:chOff x="0" y="0"/>
            <a:chExt cx="4953000" cy="26035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4953000" cy="2603500"/>
              <a:chOff x="0" y="0"/>
              <a:chExt cx="4953000" cy="26035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953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FE9EF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4953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0"/>
              <a:ext cx="1206500" cy="2603500"/>
              <a:chOff x="0" y="0"/>
              <a:chExt cx="1206500" cy="26035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065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206500">
                    <a:moveTo>
                      <a:pt x="0" y="0"/>
                    </a:moveTo>
                    <a:lnTo>
                      <a:pt x="1206500" y="0"/>
                    </a:lnTo>
                    <a:lnTo>
                      <a:pt x="12065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12065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317500" y="241300"/>
              <a:ext cx="1016000" cy="706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05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460500" y="406400"/>
              <a:ext cx="34925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Viabilidad tecnológica y conectividad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143500" y="5000625"/>
            <a:ext cx="3714750" cy="1952625"/>
            <a:chOff x="0" y="0"/>
            <a:chExt cx="4953000" cy="26035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4953000" cy="2603500"/>
              <a:chOff x="0" y="0"/>
              <a:chExt cx="4953000" cy="26035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953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FE9EF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4953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0"/>
              <a:ext cx="1206500" cy="2603500"/>
              <a:chOff x="0" y="0"/>
              <a:chExt cx="1206500" cy="26035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2065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206500">
                    <a:moveTo>
                      <a:pt x="0" y="0"/>
                    </a:moveTo>
                    <a:lnTo>
                      <a:pt x="1206500" y="0"/>
                    </a:lnTo>
                    <a:lnTo>
                      <a:pt x="12065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20C7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2065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317500" y="241300"/>
              <a:ext cx="1016000" cy="706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06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460500" y="406400"/>
              <a:ext cx="34925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Motivación y contextualización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34500" y="5000625"/>
            <a:ext cx="3714750" cy="1952625"/>
            <a:chOff x="0" y="0"/>
            <a:chExt cx="4953000" cy="2603500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4953000" cy="2603500"/>
              <a:chOff x="0" y="0"/>
              <a:chExt cx="4953000" cy="26035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4953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FE9EF"/>
                </a:solidFill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4953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0"/>
              <a:ext cx="1206500" cy="2603500"/>
              <a:chOff x="0" y="0"/>
              <a:chExt cx="1206500" cy="26035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2065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206500">
                    <a:moveTo>
                      <a:pt x="0" y="0"/>
                    </a:moveTo>
                    <a:lnTo>
                      <a:pt x="1206500" y="0"/>
                    </a:lnTo>
                    <a:lnTo>
                      <a:pt x="12065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6B5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12065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317500" y="241300"/>
              <a:ext cx="1016000" cy="706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07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460500" y="406400"/>
              <a:ext cx="34925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Evaluación y retroalimentación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525500" y="5000625"/>
            <a:ext cx="3714750" cy="1952625"/>
            <a:chOff x="0" y="0"/>
            <a:chExt cx="4953000" cy="2603500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0" y="0"/>
              <a:ext cx="4953000" cy="2603500"/>
              <a:chOff x="0" y="0"/>
              <a:chExt cx="4953000" cy="26035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4953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FE9EF"/>
                </a:solidFill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4953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0" y="0"/>
              <a:ext cx="1206500" cy="2603500"/>
              <a:chOff x="0" y="0"/>
              <a:chExt cx="1206500" cy="26035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2065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206500">
                    <a:moveTo>
                      <a:pt x="0" y="0"/>
                    </a:moveTo>
                    <a:lnTo>
                      <a:pt x="1206500" y="0"/>
                    </a:lnTo>
                    <a:lnTo>
                      <a:pt x="12065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42B88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12065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3" id="73"/>
            <p:cNvSpPr txBox="true"/>
            <p:nvPr/>
          </p:nvSpPr>
          <p:spPr>
            <a:xfrm rot="0">
              <a:off x="317500" y="241300"/>
              <a:ext cx="1016000" cy="706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08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1460500" y="406400"/>
              <a:ext cx="34925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Flexibilidad y reutilización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952500" y="8534400"/>
            <a:ext cx="152400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La puntuación orienta mejora continua; el contexto rural modifica la lectura de cada criterio.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1430000" cy="59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De la selección a la validación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533525"/>
            <a:ext cx="76200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Ruta de aplicación en cinco etapas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2000" y="3810000"/>
            <a:ext cx="2857500" cy="1809750"/>
            <a:chOff x="0" y="0"/>
            <a:chExt cx="3810000" cy="241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336800"/>
                  </a:lnTo>
                  <a:cubicBezTo>
                    <a:pt x="3810000" y="2378884"/>
                    <a:pt x="3775884" y="2413000"/>
                    <a:pt x="3733800" y="2413000"/>
                  </a:cubicBezTo>
                  <a:lnTo>
                    <a:pt x="76200" y="2413000"/>
                  </a:lnTo>
                  <a:cubicBezTo>
                    <a:pt x="34116" y="2413000"/>
                    <a:pt x="0" y="2378884"/>
                    <a:pt x="0" y="2336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381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Selección</a:t>
              </a:r>
            </a:p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British Council + READ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619500" y="4714875"/>
            <a:ext cx="666750" cy="0"/>
          </a:xfrm>
          <a:prstGeom prst="line">
            <a:avLst/>
          </a:prstGeom>
          <a:ln cap="rnd" w="66675">
            <a:solidFill>
              <a:srgbClr val="1224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286250" y="3810000"/>
            <a:ext cx="2857500" cy="1809750"/>
            <a:chOff x="0" y="0"/>
            <a:chExt cx="38100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336800"/>
                  </a:lnTo>
                  <a:cubicBezTo>
                    <a:pt x="3810000" y="2378884"/>
                    <a:pt x="3775884" y="2413000"/>
                    <a:pt x="3733800" y="2413000"/>
                  </a:cubicBezTo>
                  <a:lnTo>
                    <a:pt x="76200" y="2413000"/>
                  </a:lnTo>
                  <a:cubicBezTo>
                    <a:pt x="34116" y="2413000"/>
                    <a:pt x="0" y="2378884"/>
                    <a:pt x="0" y="2336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0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81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Exploración</a:t>
              </a:r>
            </a:p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Valoración documental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143750" y="4714875"/>
            <a:ext cx="666750" cy="0"/>
          </a:xfrm>
          <a:prstGeom prst="line">
            <a:avLst/>
          </a:prstGeom>
          <a:ln cap="rnd" w="66675">
            <a:solidFill>
              <a:srgbClr val="1224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810500" y="3810000"/>
            <a:ext cx="2857500" cy="1809750"/>
            <a:chOff x="0" y="0"/>
            <a:chExt cx="3810000" cy="241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336800"/>
                  </a:lnTo>
                  <a:cubicBezTo>
                    <a:pt x="3810000" y="2378884"/>
                    <a:pt x="3775884" y="2413000"/>
                    <a:pt x="3733800" y="2413000"/>
                  </a:cubicBezTo>
                  <a:lnTo>
                    <a:pt x="76200" y="2413000"/>
                  </a:lnTo>
                  <a:cubicBezTo>
                    <a:pt x="34116" y="2413000"/>
                    <a:pt x="0" y="2378884"/>
                    <a:pt x="0" y="2336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81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Análisis</a:t>
              </a:r>
            </a:p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Promedios + fortalezas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668000" y="4714875"/>
            <a:ext cx="666750" cy="0"/>
          </a:xfrm>
          <a:prstGeom prst="line">
            <a:avLst/>
          </a:prstGeom>
          <a:ln cap="rnd" w="66675">
            <a:solidFill>
              <a:srgbClr val="1224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1334750" y="3810000"/>
            <a:ext cx="2857500" cy="1809750"/>
            <a:chOff x="0" y="0"/>
            <a:chExt cx="3810000" cy="241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336800"/>
                  </a:lnTo>
                  <a:cubicBezTo>
                    <a:pt x="3810000" y="2378884"/>
                    <a:pt x="3775884" y="2413000"/>
                    <a:pt x="3733800" y="2413000"/>
                  </a:cubicBezTo>
                  <a:lnTo>
                    <a:pt x="76200" y="2413000"/>
                  </a:lnTo>
                  <a:cubicBezTo>
                    <a:pt x="34116" y="2413000"/>
                    <a:pt x="0" y="2378884"/>
                    <a:pt x="0" y="2336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6B5E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81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Adaptación</a:t>
              </a:r>
            </a:p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Propuestas pedagógicas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4192250" y="4714875"/>
            <a:ext cx="666750" cy="0"/>
          </a:xfrm>
          <a:prstGeom prst="line">
            <a:avLst/>
          </a:prstGeom>
          <a:ln cap="rnd" w="66675">
            <a:solidFill>
              <a:srgbClr val="1224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859000" y="3810000"/>
            <a:ext cx="2857500" cy="1809750"/>
            <a:chOff x="0" y="0"/>
            <a:chExt cx="3810000" cy="241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1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336800"/>
                  </a:lnTo>
                  <a:cubicBezTo>
                    <a:pt x="3810000" y="2378884"/>
                    <a:pt x="3775884" y="2413000"/>
                    <a:pt x="3733800" y="2413000"/>
                  </a:cubicBezTo>
                  <a:lnTo>
                    <a:pt x="76200" y="2413000"/>
                  </a:lnTo>
                  <a:cubicBezTo>
                    <a:pt x="34116" y="2413000"/>
                    <a:pt x="0" y="2378884"/>
                    <a:pt x="0" y="2336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2B883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381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Validación</a:t>
              </a:r>
            </a:p>
            <a:p>
              <a:pPr algn="ctr">
                <a:lnSpc>
                  <a:spcPts val="3478"/>
                </a:lnSpc>
              </a:pPr>
              <a:r>
                <a:rPr lang="en-US" sz="30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Implementación futura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6905625"/>
            <a:ext cx="16383000" cy="1143000"/>
            <a:chOff x="0" y="0"/>
            <a:chExt cx="21844000" cy="152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84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84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33500" y="7191375"/>
            <a:ext cx="15621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2243A"/>
                </a:solidFill>
                <a:latin typeface="Aptos Bold"/>
                <a:ea typeface="Aptos Bold"/>
                <a:cs typeface="Aptos Bold"/>
                <a:sym typeface="Aptos Bold"/>
              </a:rPr>
              <a:t>RECURSOS  →  CRITERIOS PERT-RED  →  DATOS DESCRIPTIVOS  →  ACCIONES  →  EVIDENCIA DE AULA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76275"/>
            <a:ext cx="12858750" cy="59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Ambos recursos alcanzan nivel Bueno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09222" y="880768"/>
            <a:ext cx="11756970" cy="8747601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715750" y="1952625"/>
            <a:ext cx="6477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20C7D9"/>
                </a:solidFill>
                <a:latin typeface="Aptos Bold"/>
                <a:ea typeface="Aptos Bold"/>
                <a:cs typeface="Aptos Bold"/>
                <a:sym typeface="Aptos Bold"/>
              </a:rPr>
              <a:t>3,88  British Council LearnEnglish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15750" y="2524125"/>
            <a:ext cx="6477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FF6B5E"/>
                </a:solidFill>
                <a:latin typeface="Aptos Bold"/>
                <a:ea typeface="Aptos Bold"/>
                <a:cs typeface="Aptos Bold"/>
                <a:sym typeface="Aptos Bold"/>
              </a:rPr>
              <a:t>3,50  READ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820150"/>
            <a:ext cx="142875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Las condiciones son favorables, pero esta valoración no mide directamente el aprendizaje.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76275"/>
            <a:ext cx="14287500" cy="59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Una escala que convierte juicio en acción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190750"/>
            <a:ext cx="15430500" cy="904875"/>
            <a:chOff x="0" y="0"/>
            <a:chExt cx="20574000" cy="1206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574000" cy="1206500"/>
              <a:chOff x="0" y="0"/>
              <a:chExt cx="20574000" cy="1206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574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574000">
                    <a:moveTo>
                      <a:pt x="0" y="0"/>
                    </a:moveTo>
                    <a:lnTo>
                      <a:pt x="20574000" y="0"/>
                    </a:lnTo>
                    <a:lnTo>
                      <a:pt x="20574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0574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905000" cy="1206500"/>
              <a:chOff x="0" y="0"/>
              <a:chExt cx="1905000" cy="1206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05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D94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905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81000" y="158750"/>
              <a:ext cx="1143000" cy="932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09"/>
                </a:lnSpc>
              </a:pPr>
              <a:r>
                <a:rPr lang="en-US" sz="414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349500" y="307975"/>
              <a:ext cx="444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DEFICIENTE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366000" y="307975"/>
              <a:ext cx="1206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>
                  <a:solidFill>
                    <a:srgbClr val="12243A"/>
                  </a:solidFill>
                  <a:latin typeface="Aptos"/>
                  <a:ea typeface="Aptos"/>
                  <a:cs typeface="Aptos"/>
                  <a:sym typeface="Aptos"/>
                </a:rPr>
                <a:t>No cumple; cambios urgentes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3409950"/>
            <a:ext cx="15430500" cy="904875"/>
            <a:chOff x="0" y="0"/>
            <a:chExt cx="20574000" cy="1206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574000" cy="1206500"/>
              <a:chOff x="0" y="0"/>
              <a:chExt cx="20574000" cy="1206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574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574000">
                    <a:moveTo>
                      <a:pt x="0" y="0"/>
                    </a:moveTo>
                    <a:lnTo>
                      <a:pt x="20574000" y="0"/>
                    </a:lnTo>
                    <a:lnTo>
                      <a:pt x="20574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0574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1905000" cy="1206500"/>
              <a:chOff x="0" y="0"/>
              <a:chExt cx="1905000" cy="1206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05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28B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905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1000" y="158750"/>
              <a:ext cx="1143000" cy="932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09"/>
                </a:lnSpc>
              </a:pPr>
              <a:r>
                <a:rPr lang="en-US" sz="414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349500" y="307975"/>
              <a:ext cx="444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BAJO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366000" y="307975"/>
              <a:ext cx="1206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>
                  <a:solidFill>
                    <a:srgbClr val="12243A"/>
                  </a:solidFill>
                  <a:latin typeface="Aptos"/>
                  <a:ea typeface="Aptos"/>
                  <a:cs typeface="Aptos"/>
                  <a:sym typeface="Aptos"/>
                </a:rPr>
                <a:t>Mejora significativa necesaria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4629150"/>
            <a:ext cx="15430500" cy="904875"/>
            <a:chOff x="0" y="0"/>
            <a:chExt cx="20574000" cy="12065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0574000" cy="1206500"/>
              <a:chOff x="0" y="0"/>
              <a:chExt cx="20574000" cy="1206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0574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574000">
                    <a:moveTo>
                      <a:pt x="0" y="0"/>
                    </a:moveTo>
                    <a:lnTo>
                      <a:pt x="20574000" y="0"/>
                    </a:lnTo>
                    <a:lnTo>
                      <a:pt x="20574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20574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1905000" cy="1206500"/>
              <a:chOff x="0" y="0"/>
              <a:chExt cx="1905000" cy="12065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905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6C9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905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81000" y="158750"/>
              <a:ext cx="1143000" cy="932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09"/>
                </a:lnSpc>
              </a:pPr>
              <a:r>
                <a:rPr lang="en-US" sz="414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349500" y="307975"/>
              <a:ext cx="444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ACEPTABLE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366000" y="307975"/>
              <a:ext cx="1206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>
                  <a:solidFill>
                    <a:srgbClr val="12243A"/>
                  </a:solidFill>
                  <a:latin typeface="Aptos"/>
                  <a:ea typeface="Aptos"/>
                  <a:cs typeface="Aptos"/>
                  <a:sym typeface="Aptos"/>
                </a:rPr>
                <a:t>Cumple lo esencial con ajustes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2500" y="5848350"/>
            <a:ext cx="15430500" cy="904875"/>
            <a:chOff x="0" y="0"/>
            <a:chExt cx="20574000" cy="12065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0574000" cy="1206500"/>
              <a:chOff x="0" y="0"/>
              <a:chExt cx="20574000" cy="12065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0574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574000">
                    <a:moveTo>
                      <a:pt x="0" y="0"/>
                    </a:moveTo>
                    <a:lnTo>
                      <a:pt x="20574000" y="0"/>
                    </a:lnTo>
                    <a:lnTo>
                      <a:pt x="20574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20574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1905000" cy="1206500"/>
              <a:chOff x="0" y="0"/>
              <a:chExt cx="1905000" cy="12065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905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42B88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1905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81000" y="158750"/>
              <a:ext cx="1143000" cy="932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09"/>
                </a:lnSpc>
              </a:pPr>
              <a:r>
                <a:rPr lang="en-US" sz="414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349500" y="307975"/>
              <a:ext cx="444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BUENO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7366000" y="307975"/>
              <a:ext cx="1206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>
                  <a:solidFill>
                    <a:srgbClr val="12243A"/>
                  </a:solidFill>
                  <a:latin typeface="Aptos"/>
                  <a:ea typeface="Aptos"/>
                  <a:cs typeface="Aptos"/>
                  <a:sym typeface="Aptos"/>
                </a:rPr>
                <a:t>Responde adecuadamente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2500" y="7067550"/>
            <a:ext cx="15430500" cy="904875"/>
            <a:chOff x="0" y="0"/>
            <a:chExt cx="20574000" cy="12065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20574000" cy="1206500"/>
              <a:chOff x="0" y="0"/>
              <a:chExt cx="20574000" cy="12065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0574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574000">
                    <a:moveTo>
                      <a:pt x="0" y="0"/>
                    </a:moveTo>
                    <a:lnTo>
                      <a:pt x="20574000" y="0"/>
                    </a:lnTo>
                    <a:lnTo>
                      <a:pt x="20574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47625"/>
                <a:ext cx="20574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0"/>
              <a:ext cx="1905000" cy="1206500"/>
              <a:chOff x="0" y="0"/>
              <a:chExt cx="1905000" cy="12065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905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47625"/>
                <a:ext cx="1905000" cy="1254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381000" y="158750"/>
              <a:ext cx="1143000" cy="932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09"/>
                </a:lnSpc>
              </a:pPr>
              <a:r>
                <a:rPr lang="en-US" sz="414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5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2349500" y="307975"/>
              <a:ext cx="444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 b="true">
                  <a:solidFill>
                    <a:srgbClr val="1224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EXCELENTE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7366000" y="307975"/>
              <a:ext cx="12065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>
                  <a:solidFill>
                    <a:srgbClr val="12243A"/>
                  </a:solidFill>
                  <a:latin typeface="Aptos"/>
                  <a:ea typeface="Aptos"/>
                  <a:cs typeface="Aptos"/>
                  <a:sym typeface="Aptos"/>
                </a:rPr>
                <a:t>Cumple ampliamente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52500" y="8724900"/>
            <a:ext cx="114300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N/A se utiliza cuando un criterio no puede ser evaluado.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76275"/>
            <a:ext cx="14287500" cy="59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Fortalecer el instrumento exige más voces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381250"/>
            <a:ext cx="7429500" cy="2476500"/>
            <a:chOff x="0" y="0"/>
            <a:chExt cx="9906000" cy="330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3302000"/>
              <a:chOff x="0" y="0"/>
              <a:chExt cx="9906000" cy="330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9906000" cy="3368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3302000"/>
              <a:chOff x="0" y="0"/>
              <a:chExt cx="228600" cy="3302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228600" cy="3368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98500" y="612775"/>
              <a:ext cx="3810000" cy="84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1677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PRECISAR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98500" y="1549400"/>
              <a:ext cx="8636000" cy="1404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19"/>
                </a:lnSpc>
              </a:pPr>
              <a:r>
                <a:rPr lang="en-US" sz="3199">
                  <a:solidFill>
                    <a:srgbClr val="12243A"/>
                  </a:solidFill>
                  <a:latin typeface="Aptos"/>
                  <a:ea typeface="Aptos"/>
                  <a:cs typeface="Aptos"/>
                  <a:sym typeface="Aptos"/>
                </a:rPr>
                <a:t>Indicadores de instrucciones, vocabulario y legibilidad.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39250" y="2381250"/>
            <a:ext cx="7429500" cy="2476500"/>
            <a:chOff x="0" y="0"/>
            <a:chExt cx="9906000" cy="330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06000" cy="3302000"/>
              <a:chOff x="0" y="0"/>
              <a:chExt cx="9906000" cy="3302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06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9906000" cy="3359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228600" cy="3302000"/>
              <a:chOff x="0" y="0"/>
              <a:chExt cx="228600" cy="3302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286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20C7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228600" cy="3359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98500" y="622300"/>
              <a:ext cx="5574632" cy="827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</a:pPr>
              <a:r>
                <a:rPr lang="en-US" sz="3699">
                  <a:solidFill>
                    <a:srgbClr val="20C7D9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CONTRASTAR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98500" y="1549400"/>
              <a:ext cx="8636000" cy="1356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3099">
                  <a:solidFill>
                    <a:srgbClr val="12243A"/>
                  </a:solidFill>
                  <a:latin typeface="Aptos"/>
                  <a:ea typeface="Aptos"/>
                  <a:cs typeface="Aptos"/>
                  <a:sym typeface="Aptos"/>
                </a:rPr>
                <a:t>Opinión estudiantil y validación docente cruzada.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2500" y="5524500"/>
            <a:ext cx="7429500" cy="2476500"/>
            <a:chOff x="0" y="0"/>
            <a:chExt cx="9906000" cy="3302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3302000"/>
              <a:chOff x="0" y="0"/>
              <a:chExt cx="9906000" cy="3302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9906000" cy="3359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228600" cy="3302000"/>
              <a:chOff x="0" y="0"/>
              <a:chExt cx="228600" cy="3302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86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6B5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228600" cy="3359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698500" y="622300"/>
              <a:ext cx="4772526" cy="827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</a:pPr>
              <a:r>
                <a:rPr lang="en-US" sz="3699">
                  <a:solidFill>
                    <a:srgbClr val="FF6B5E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EVIDENCIAR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98500" y="1549400"/>
              <a:ext cx="8636000" cy="1356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3099">
                  <a:solidFill>
                    <a:srgbClr val="12243A"/>
                  </a:solidFill>
                  <a:latin typeface="Aptos"/>
                  <a:ea typeface="Aptos"/>
                  <a:cs typeface="Aptos"/>
                  <a:sym typeface="Aptos"/>
                </a:rPr>
                <a:t>Aplicación en aula con registros previos y posteriores.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39250" y="5524500"/>
            <a:ext cx="7429500" cy="2476500"/>
            <a:chOff x="0" y="0"/>
            <a:chExt cx="9906000" cy="3302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9906000" cy="3302000"/>
              <a:chOff x="0" y="0"/>
              <a:chExt cx="9906000" cy="3302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906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9906000" cy="3359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228600" cy="3302000"/>
              <a:chOff x="0" y="0"/>
              <a:chExt cx="228600" cy="3302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286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42B88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228600" cy="3359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698500" y="622300"/>
              <a:ext cx="3810000" cy="827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</a:pPr>
              <a:r>
                <a:rPr lang="en-US" sz="3699">
                  <a:solidFill>
                    <a:srgbClr val="42B88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CALIBRAR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698500" y="1549400"/>
              <a:ext cx="8636000" cy="1356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3099">
                  <a:solidFill>
                    <a:srgbClr val="12243A"/>
                  </a:solidFill>
                  <a:latin typeface="Aptos"/>
                  <a:ea typeface="Aptos"/>
                  <a:cs typeface="Aptos"/>
                  <a:sym typeface="Aptos"/>
                </a:rPr>
                <a:t>Mayor consistencia y claridad entre valoraciones.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71525"/>
            <a:ext cx="10953750" cy="116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PERT-RED no cierra una evaluación.</a:t>
            </a:r>
          </a:p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Abre una conversación.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2914650"/>
            <a:ext cx="7239000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Es una herramienta integral, contextualizada y práctica. Su valor crece con la evaluación continua, la adaptación pedagógica y la validación con más docentes y estudios comparativos.</a:t>
            </a:r>
          </a:p>
        </p:txBody>
      </p:sp>
      <p:sp>
        <p:nvSpPr>
          <p:cNvPr name="AutoShape 4" id="4"/>
          <p:cNvSpPr/>
          <p:nvPr/>
        </p:nvSpPr>
        <p:spPr>
          <a:xfrm>
            <a:off x="14573250" y="2476500"/>
            <a:ext cx="1047750" cy="123825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14573250" y="4857750"/>
            <a:ext cx="1047750" cy="123825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953750" y="4857750"/>
            <a:ext cx="857250" cy="180975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0953750" y="1905000"/>
            <a:ext cx="857250" cy="180975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811000" y="1333500"/>
            <a:ext cx="3714750" cy="1143000"/>
            <a:chOff x="0" y="0"/>
            <a:chExt cx="4953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4953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3"/>
                </a:lnSpc>
              </a:pPr>
              <a:r>
                <a:rPr lang="en-US" sz="25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APLICAR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11250" y="3714750"/>
            <a:ext cx="3714750" cy="1143000"/>
            <a:chOff x="0" y="0"/>
            <a:chExt cx="4953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5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6B5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953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3"/>
                </a:lnSpc>
              </a:pPr>
              <a:r>
                <a:rPr lang="en-US" sz="25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OBSERVAR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1000" y="6096000"/>
            <a:ext cx="3714750" cy="1143000"/>
            <a:chOff x="0" y="0"/>
            <a:chExt cx="4953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5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42B883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4953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3"/>
                </a:lnSpc>
              </a:pPr>
              <a:r>
                <a:rPr lang="en-US" sz="25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MEJORAR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10750" y="3714750"/>
            <a:ext cx="3714750" cy="1143000"/>
            <a:chOff x="0" y="0"/>
            <a:chExt cx="4953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5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4953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3"/>
                </a:lnSpc>
              </a:pPr>
              <a:r>
                <a:rPr lang="en-US" sz="25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COMPARTIR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52500" y="7743825"/>
            <a:ext cx="104775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C945"/>
                </a:solidFill>
                <a:latin typeface="Archivo Black"/>
                <a:ea typeface="Archivo Black"/>
                <a:cs typeface="Archivo Black"/>
                <a:sym typeface="Archivo Black"/>
              </a:rPr>
              <a:t>Aplicar · observar · mejorar · compartir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23900"/>
            <a:ext cx="8572500" cy="59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2243A"/>
                </a:solidFill>
                <a:latin typeface="Archivo Black"/>
                <a:ea typeface="Archivo Black"/>
                <a:cs typeface="Archivo Black"/>
                <a:sym typeface="Archivo Black"/>
              </a:rPr>
              <a:t>Referencias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1714500"/>
            <a:ext cx="16383000" cy="47625"/>
            <a:chOff x="0" y="0"/>
            <a:chExt cx="21844000" cy="6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44000" cy="63500"/>
            </a:xfrm>
            <a:custGeom>
              <a:avLst/>
              <a:gdLst/>
              <a:ahLst/>
              <a:cxnLst/>
              <a:rect r="r" b="b" t="t" l="l"/>
              <a:pathLst>
                <a:path h="635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F6B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2561222"/>
            <a:ext cx="7524750" cy="211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Adame Rodríguez, S. I. (2015). Instrumento LORI-AD.</a:t>
            </a:r>
          </a:p>
          <a:p>
            <a:pPr algn="l">
              <a:lnSpc>
                <a:spcPts val="2835"/>
              </a:lnSpc>
            </a:p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Fernández-Pampillón et al. (2012). Herramienta COdA.</a:t>
            </a:r>
          </a:p>
          <a:p>
            <a:pPr algn="l">
              <a:lnSpc>
                <a:spcPts val="2835"/>
              </a:lnSpc>
            </a:p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Leacock, T. &amp; Nesbit, J. (2007). Framework para calidad multimedia.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5105400"/>
            <a:ext cx="7620000" cy="246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Ministerio de Educación Nacional. (2006, 2022). Estándares de inglés.</a:t>
            </a:r>
          </a:p>
          <a:p>
            <a:pPr algn="l">
              <a:lnSpc>
                <a:spcPts val="2835"/>
              </a:lnSpc>
            </a:p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Nesbit, J., Belfer, K. &amp; Leacock, T. (2003). Manual LORI.</a:t>
            </a:r>
          </a:p>
          <a:p>
            <a:pPr algn="l">
              <a:lnSpc>
                <a:spcPts val="2835"/>
              </a:lnSpc>
            </a:p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2243A"/>
                </a:solidFill>
                <a:latin typeface="Aptos"/>
                <a:ea typeface="Aptos"/>
                <a:cs typeface="Aptos"/>
                <a:sym typeface="Aptos"/>
              </a:rPr>
              <a:t>Prieto Taborda et al. (2019). Evaluación de RED en sistemas informáticos.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DAHYBXzI1pQ</dc:identifier>
  <dcterms:modified xsi:type="dcterms:W3CDTF">2011-08-01T06:04:30Z</dcterms:modified>
  <cp:revision>1</cp:revision>
  <dc:title>Castellanos De Salvador Angela Castellanos De Salvador Daniel Universidad de Santander 2026</dc:title>
</cp:coreProperties>
</file>